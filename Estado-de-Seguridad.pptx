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97692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3539847"/>
            <a:ext cx="3070503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3634978"/>
            <a:ext cx="181451" cy="18145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02055" y="3607832"/>
            <a:ext cx="2526149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CORPORATIVA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793790" y="4002405"/>
            <a:ext cx="8999339" cy="116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0"/>
              </a:lnSpc>
              <a:buNone/>
            </a:pPr>
            <a:r>
              <a:rPr lang="en-US" sz="7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Estado de Seguridad</a:t>
            </a:r>
            <a:endParaRPr lang="en-US" sz="7050" dirty="0"/>
          </a:p>
        </p:txBody>
      </p:sp>
      <p:sp>
        <p:nvSpPr>
          <p:cNvPr id="9" name="Text 4"/>
          <p:cNvSpPr/>
          <p:nvPr/>
        </p:nvSpPr>
        <p:spPr>
          <a:xfrm>
            <a:off x="793790" y="5512475"/>
            <a:ext cx="9889569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Plan de Acción y Garantía de Continuidad</a:t>
            </a:r>
            <a:endParaRPr lang="en-US" sz="4100" dirty="0"/>
          </a:p>
        </p:txBody>
      </p:sp>
      <p:sp>
        <p:nvSpPr>
          <p:cNvPr id="10" name="Shape 5"/>
          <p:cNvSpPr/>
          <p:nvPr/>
        </p:nvSpPr>
        <p:spPr>
          <a:xfrm>
            <a:off x="793790" y="6644197"/>
            <a:ext cx="13042821" cy="35957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793790" y="6935272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 integral, protocolos de mitigación y estrategias para asegurar la resiliencia operativa de nuestra infraestructura.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4905"/>
            <a:ext cx="8731806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Contexto de Vulnerabilidades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083356"/>
            <a:ext cx="6233160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Entendiendo las Amenazas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793790" y="3101697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Exploramos dos vulnerabilidades comunes que pueden comprometer la seguridad de nuestros sistemas. Comprenderlas es el primer paso para proteger nuestra infraestructura digital.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946446"/>
            <a:ext cx="6407944" cy="3138130"/>
          </a:xfrm>
          <a:prstGeom prst="roundRect">
            <a:avLst>
              <a:gd name="adj" fmla="val 303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420374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FTP Anónimo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51084" y="4763691"/>
            <a:ext cx="5893356" cy="206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Protocolo de Transferencia de Archivos (FTP) permite mover documentos entre ordenadores. Cuando se configura para acceso anónimo, no requiere usuario ni contraseña, abriendo una puerta a que cualquier persona pueda ver, descargar o incluso modificar archivos cruciales de nuestros servidores.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946446"/>
            <a:ext cx="6408063" cy="3138130"/>
          </a:xfrm>
          <a:prstGeom prst="roundRect">
            <a:avLst>
              <a:gd name="adj" fmla="val 303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842" y="4203740"/>
            <a:ext cx="416730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Credenciales Débiles MySQL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85842" y="4763691"/>
            <a:ext cx="5893475" cy="206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 es un sistema esencial para gestionar bases de datos, donde se almacena información crítica. Utilizar contraseñas débiles o por defecto en MySQL facilita que atacantes las adivinen, obteniendo acceso total a datos sensibles y poniendo en riesgo la confidencialidad y la integridad de nuestra información.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683" y="1080016"/>
            <a:ext cx="5796677" cy="753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Pentesting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05683" y="1905238"/>
            <a:ext cx="6414611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Evaluación de Vulnerabilidades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05683" y="2776776"/>
            <a:ext cx="13219033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Identificación y análisis de puntos débiles en sistemas, redes y aplicaciones para fortalecer nuestra postura de seguridad.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5683" y="3225760"/>
            <a:ext cx="6519863" cy="3923705"/>
          </a:xfrm>
          <a:prstGeom prst="roundRect">
            <a:avLst>
              <a:gd name="adj" fmla="val 215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116" y="3450193"/>
            <a:ext cx="604837" cy="604838"/>
          </a:xfrm>
          <a:prstGeom prst="roundRect">
            <a:avLst>
              <a:gd name="adj" fmla="val 15116611"/>
            </a:avLst>
          </a:prstGeom>
          <a:solidFill>
            <a:srgbClr val="FF95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447" y="3616404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0116" y="4234220"/>
            <a:ext cx="2898338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FTP Anónimo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30116" y="4718447"/>
            <a:ext cx="6070997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Acceso sin autenticación al servidor FTP, permitiendo a usuarios no autorizados ver o modificar archivos críticos.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30116" y="5662255"/>
            <a:ext cx="906661" cy="318968"/>
          </a:xfrm>
          <a:prstGeom prst="roundRect">
            <a:avLst>
              <a:gd name="adj" fmla="val 21239"/>
            </a:avLst>
          </a:prstGeom>
          <a:solidFill>
            <a:srgbClr val="FFE0C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084" y="5722739"/>
            <a:ext cx="664726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CRÍTICO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0116" y="6182797"/>
            <a:ext cx="6070997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Deshabilitar el acceso anónimo y exigir autenticación con credenciales robustas para todas las conexiones FTP.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404735" y="3225760"/>
            <a:ext cx="6519982" cy="3923705"/>
          </a:xfrm>
          <a:prstGeom prst="roundRect">
            <a:avLst>
              <a:gd name="adj" fmla="val 215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29168" y="3450193"/>
            <a:ext cx="604837" cy="604838"/>
          </a:xfrm>
          <a:prstGeom prst="roundRect">
            <a:avLst>
              <a:gd name="adj" fmla="val 15116611"/>
            </a:avLst>
          </a:prstGeom>
          <a:solidFill>
            <a:srgbClr val="FF954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5498" y="3616404"/>
            <a:ext cx="272177" cy="27217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29168" y="4234220"/>
            <a:ext cx="370308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Credenciales Débiles MySQL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7629168" y="4718447"/>
            <a:ext cx="6071116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Uso de contraseñas simples o por defecto en bases de datos MySQL, haciendo los sistemas vulnerables a ataques de fuerza bruta y acceso no autorizado.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7629168" y="5662255"/>
            <a:ext cx="906661" cy="318968"/>
          </a:xfrm>
          <a:prstGeom prst="roundRect">
            <a:avLst>
              <a:gd name="adj" fmla="val 21239"/>
            </a:avLst>
          </a:prstGeom>
          <a:solidFill>
            <a:srgbClr val="FFE0CC"/>
          </a:solidFill>
          <a:ln/>
        </p:spPr>
      </p:sp>
      <p:sp>
        <p:nvSpPr>
          <p:cNvPr id="19" name="Text 15"/>
          <p:cNvSpPr/>
          <p:nvPr/>
        </p:nvSpPr>
        <p:spPr>
          <a:xfrm>
            <a:off x="7750135" y="5722739"/>
            <a:ext cx="664726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CRÍTICO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629168" y="6182797"/>
            <a:ext cx="6071116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Implementar políticas de contraseñas robustas, cambiar todas las credenciales por defecto y utilizar métodos de autenticación más seguros.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683" y="956310"/>
            <a:ext cx="5796677" cy="753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Explotación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05683" y="1781532"/>
            <a:ext cx="5958007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Impacto de Vulnerabilidades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05683" y="2653070"/>
            <a:ext cx="13219033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vez identificadas, las vulnerabilidades pueden ser explotadas, causando daños significativos a la infraestructura y datos. Comprender estos impactos es crucial para priorizar y aplicar soluciones efectivas.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5683" y="3349466"/>
            <a:ext cx="6519863" cy="3923705"/>
          </a:xfrm>
          <a:prstGeom prst="roundRect">
            <a:avLst>
              <a:gd name="adj" fmla="val 215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116" y="3573899"/>
            <a:ext cx="604837" cy="604838"/>
          </a:xfrm>
          <a:prstGeom prst="roundRect">
            <a:avLst>
              <a:gd name="adj" fmla="val 15116611"/>
            </a:avLst>
          </a:prstGeom>
          <a:solidFill>
            <a:srgbClr val="FF95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447" y="3740110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0116" y="4357926"/>
            <a:ext cx="2898338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FTP Anónimo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30116" y="4842153"/>
            <a:ext cx="6070997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Descarga y modificación de archivos del servidor sin restricciones, llevando a la filtración o alteración de información crítica.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30116" y="5785961"/>
            <a:ext cx="906661" cy="318968"/>
          </a:xfrm>
          <a:prstGeom prst="roundRect">
            <a:avLst>
              <a:gd name="adj" fmla="val 21239"/>
            </a:avLst>
          </a:prstGeom>
          <a:solidFill>
            <a:srgbClr val="FFE0C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084" y="5846445"/>
            <a:ext cx="664726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CRÍTICO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0116" y="6306503"/>
            <a:ext cx="6070997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Implementar autenticación obligatoria y limitar permisos de escritura para asegurar la integridad y confidencialidad de los datos.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404735" y="3349466"/>
            <a:ext cx="6519982" cy="3923705"/>
          </a:xfrm>
          <a:prstGeom prst="roundRect">
            <a:avLst>
              <a:gd name="adj" fmla="val 215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29168" y="3573899"/>
            <a:ext cx="604837" cy="604838"/>
          </a:xfrm>
          <a:prstGeom prst="roundRect">
            <a:avLst>
              <a:gd name="adj" fmla="val 15116611"/>
            </a:avLst>
          </a:prstGeom>
          <a:solidFill>
            <a:srgbClr val="FF954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5498" y="3740110"/>
            <a:ext cx="272177" cy="27217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29168" y="4357926"/>
            <a:ext cx="370308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Credenciales Débiles MySQL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7629168" y="4842153"/>
            <a:ext cx="6071116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Acceso no autorizado a bases de datos sensibles, resultando en robo de información, manipulación de datos y posible interrupción del servicio.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7629168" y="5785961"/>
            <a:ext cx="906661" cy="318968"/>
          </a:xfrm>
          <a:prstGeom prst="roundRect">
            <a:avLst>
              <a:gd name="adj" fmla="val 21239"/>
            </a:avLst>
          </a:prstGeom>
          <a:solidFill>
            <a:srgbClr val="FFE0CC"/>
          </a:solidFill>
          <a:ln/>
        </p:spPr>
      </p:sp>
      <p:sp>
        <p:nvSpPr>
          <p:cNvPr id="19" name="Text 15"/>
          <p:cNvSpPr/>
          <p:nvPr/>
        </p:nvSpPr>
        <p:spPr>
          <a:xfrm>
            <a:off x="7750135" y="5846445"/>
            <a:ext cx="664726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CRÍTICO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629168" y="6306503"/>
            <a:ext cx="6071116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Usar contraseñas complejas, cambiar credenciales por defecto inmediatamente y limitar el acceso remoto para proteger la información confidencial.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28036"/>
            <a:ext cx="3048357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523167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496020"/>
            <a:ext cx="250400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DE RIESGOS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90593"/>
            <a:ext cx="9289256" cy="116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0"/>
              </a:lnSpc>
              <a:buNone/>
            </a:pPr>
            <a:r>
              <a:rPr lang="en-US" sz="7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Diagnóstico de Riesgos</a:t>
            </a:r>
            <a:endParaRPr lang="en-US" sz="7050" dirty="0"/>
          </a:p>
        </p:txBody>
      </p:sp>
      <p:sp>
        <p:nvSpPr>
          <p:cNvPr id="6" name="Text 3"/>
          <p:cNvSpPr/>
          <p:nvPr/>
        </p:nvSpPr>
        <p:spPr>
          <a:xfrm>
            <a:off x="793790" y="3400663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Hemos identificado tres áreas críticas que requieren atención inmediata para fortalecer nuestra infraestructura.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950613"/>
            <a:ext cx="4196358" cy="2850952"/>
          </a:xfrm>
          <a:prstGeom prst="roundRect">
            <a:avLst>
              <a:gd name="adj" fmla="val 334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3464" y="42002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4387453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3464" y="510754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Acceso Abierto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1043464" y="5667494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Puertas de entrada digital (FTP) sin protección, permitiendo accesos no autorizados.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16962" y="3950613"/>
            <a:ext cx="4196358" cy="2850952"/>
          </a:xfrm>
          <a:prstGeom prst="roundRect">
            <a:avLst>
              <a:gd name="adj" fmla="val 334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66636" y="42002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3802" y="4387453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66636" y="510754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Permisos Inseguros</a:t>
            </a:r>
            <a:endParaRPr lang="en-US" sz="2550" dirty="0"/>
          </a:p>
        </p:txBody>
      </p:sp>
      <p:sp>
        <p:nvSpPr>
          <p:cNvPr id="16" name="Text 11"/>
          <p:cNvSpPr/>
          <p:nvPr/>
        </p:nvSpPr>
        <p:spPr>
          <a:xfrm>
            <a:off x="5466636" y="5667494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Cualquier usuario del sistema tenía privilegios para modificar la página web.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9640133" y="3950613"/>
            <a:ext cx="4196358" cy="2850952"/>
          </a:xfrm>
          <a:prstGeom prst="roundRect">
            <a:avLst>
              <a:gd name="adj" fmla="val 334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89808" y="42002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6974" y="4387453"/>
            <a:ext cx="306110" cy="3061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89808" y="510754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Identidad Expuesta</a:t>
            </a:r>
            <a:endParaRPr lang="en-US" sz="2550" dirty="0"/>
          </a:p>
        </p:txBody>
      </p:sp>
      <p:sp>
        <p:nvSpPr>
          <p:cNvPr id="21" name="Text 15"/>
          <p:cNvSpPr/>
          <p:nvPr/>
        </p:nvSpPr>
        <p:spPr>
          <a:xfrm>
            <a:off x="9889808" y="5667494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usuario administrador (Root) operaba sin restricciones de seguridad adicionales.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86339"/>
            <a:ext cx="3201591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28147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254323"/>
            <a:ext cx="2657237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ACCIONES IMPLEMENTADAS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48897"/>
            <a:ext cx="9574887" cy="116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0"/>
              </a:lnSpc>
              <a:buNone/>
            </a:pPr>
            <a:r>
              <a:rPr lang="en-US" sz="7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Acciones de Mitigación</a:t>
            </a:r>
            <a:endParaRPr lang="en-US" sz="7050" dirty="0"/>
          </a:p>
        </p:txBody>
      </p:sp>
      <p:sp>
        <p:nvSpPr>
          <p:cNvPr id="6" name="Text 3"/>
          <p:cNvSpPr/>
          <p:nvPr/>
        </p:nvSpPr>
        <p:spPr>
          <a:xfrm>
            <a:off x="793790" y="3158966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abordar los riesgos identificados, hemos implementado una serie de medidas de seguridad clave para fortalecer nuestra infraestructura.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00371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370070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6"/>
          <p:cNvSpPr/>
          <p:nvPr/>
        </p:nvSpPr>
        <p:spPr>
          <a:xfrm>
            <a:off x="793790" y="454437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Cierre Perimetral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93790" y="5104328"/>
            <a:ext cx="419635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Implementamos un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 (UFW)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restringe el acceso a nuestra red, permitiendo solo conexiones autorizadas y bloqueando amenazas externas de manera efectiva.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16962" y="400371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4370070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3" name="Text 10"/>
          <p:cNvSpPr/>
          <p:nvPr/>
        </p:nvSpPr>
        <p:spPr>
          <a:xfrm>
            <a:off x="5216962" y="4544378"/>
            <a:ext cx="393168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Endurecimiento de Acceso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5216962" y="5104328"/>
            <a:ext cx="4196358" cy="176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Eliminamos el acceso directo de usuario 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asegurando que todas las identidades sean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trazables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operen con el principio de privilegio mínimo para prevenir accesos no autorizados.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40133" y="400371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640133" y="4370070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4"/>
          <p:cNvSpPr/>
          <p:nvPr/>
        </p:nvSpPr>
        <p:spPr>
          <a:xfrm>
            <a:off x="9640133" y="4544378"/>
            <a:ext cx="399216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Saneamiento de Aplicación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640133" y="5104328"/>
            <a:ext cx="419635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Corregimos los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 de archivos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regeneramos todas las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claves de seguridad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WordPress, fortaleciendo la integridad y confidencialidad de la plataforma.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909" y="1059894"/>
            <a:ext cx="2312194" cy="293013"/>
          </a:xfrm>
          <a:prstGeom prst="roundRect">
            <a:avLst>
              <a:gd name="adj" fmla="val 21659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138" y="1130856"/>
            <a:ext cx="151090" cy="1510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8714" y="1116449"/>
            <a:ext cx="1859161" cy="17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CONTINUIDAD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8909" y="1415772"/>
            <a:ext cx="8374380" cy="974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5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Garantía de Continuidad</a:t>
            </a:r>
            <a:endParaRPr lang="en-US" sz="5900" dirty="0"/>
          </a:p>
        </p:txBody>
      </p:sp>
      <p:sp>
        <p:nvSpPr>
          <p:cNvPr id="6" name="Text 3"/>
          <p:cNvSpPr/>
          <p:nvPr/>
        </p:nvSpPr>
        <p:spPr>
          <a:xfrm>
            <a:off x="798909" y="2625804"/>
            <a:ext cx="8339852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Plan de Recuperación ante Desastres (DRP)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8909" y="3426381"/>
            <a:ext cx="13032462" cy="67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asegurar que nuestras operaciones se mantengan robustas frente a cualquier eventualidad, hemos diseñado un Plan de Recuperación ante Desastres (DRP) centrado en la velocidad y la mínima pérdida de datos. Este plan define nuestras prioridades de recuperación y mitigación.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98909" y="4561284"/>
            <a:ext cx="4239339" cy="2608421"/>
          </a:xfrm>
          <a:prstGeom prst="roundRect">
            <a:avLst>
              <a:gd name="adj" fmla="val 4207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98909" y="4538424"/>
            <a:ext cx="4239339" cy="91440"/>
          </a:xfrm>
          <a:prstGeom prst="roundRect">
            <a:avLst>
              <a:gd name="adj" fmla="val 86755"/>
            </a:avLst>
          </a:prstGeom>
          <a:solidFill>
            <a:srgbClr val="FF954F"/>
          </a:solidFill>
          <a:ln/>
        </p:spPr>
      </p:sp>
      <p:sp>
        <p:nvSpPr>
          <p:cNvPr id="10" name="Shape 7"/>
          <p:cNvSpPr/>
          <p:nvPr/>
        </p:nvSpPr>
        <p:spPr>
          <a:xfrm>
            <a:off x="2635270" y="4278035"/>
            <a:ext cx="566618" cy="566618"/>
          </a:xfrm>
          <a:prstGeom prst="roundRect">
            <a:avLst>
              <a:gd name="adj" fmla="val 161379"/>
            </a:avLst>
          </a:prstGeom>
          <a:solidFill>
            <a:srgbClr val="FF95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5291" y="4447937"/>
            <a:ext cx="226576" cy="2265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0603" y="5033367"/>
            <a:ext cx="2715101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Respaldo 3-2-1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010603" y="5480566"/>
            <a:ext cx="3815953" cy="134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los datos críticos se almacenan en </a:t>
            </a:r>
            <a:pPr algn="l"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ubicaciones</a:t>
            </a:r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distintas, utilizando </a:t>
            </a:r>
            <a:pPr algn="l"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formatos</a:t>
            </a:r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diferentes, con al menos </a:t>
            </a:r>
            <a:pPr algn="l"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copia</a:t>
            </a:r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fuera de la oficina. Esto asegura una protección robusta contra la pérdida total.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195411" y="4561284"/>
            <a:ext cx="4239339" cy="2608421"/>
          </a:xfrm>
          <a:prstGeom prst="roundRect">
            <a:avLst>
              <a:gd name="adj" fmla="val 4207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5195411" y="4538424"/>
            <a:ext cx="4239339" cy="91440"/>
          </a:xfrm>
          <a:prstGeom prst="roundRect">
            <a:avLst>
              <a:gd name="adj" fmla="val 86755"/>
            </a:avLst>
          </a:prstGeom>
          <a:solidFill>
            <a:srgbClr val="FF954F"/>
          </a:solidFill>
          <a:ln/>
        </p:spPr>
      </p:sp>
      <p:sp>
        <p:nvSpPr>
          <p:cNvPr id="16" name="Shape 12"/>
          <p:cNvSpPr/>
          <p:nvPr/>
        </p:nvSpPr>
        <p:spPr>
          <a:xfrm>
            <a:off x="7031772" y="4278035"/>
            <a:ext cx="566618" cy="566618"/>
          </a:xfrm>
          <a:prstGeom prst="roundRect">
            <a:avLst>
              <a:gd name="adj" fmla="val 161379"/>
            </a:avLst>
          </a:prstGeom>
          <a:solidFill>
            <a:srgbClr val="FF95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1793" y="4447937"/>
            <a:ext cx="226576" cy="2265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07104" y="5033367"/>
            <a:ext cx="3815953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Tiempo de Recuperación (RTO)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5407104" y="5833467"/>
            <a:ext cx="3815953" cy="1124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caso de una interrupción total del servicio, nuestro objetivo es restaurar la funcionalidad completa en un máximo de </a:t>
            </a:r>
            <a:pPr algn="l"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horas</a:t>
            </a:r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Esto minimiza el impacto en nuestras operaciones y usuarios.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9591913" y="4561284"/>
            <a:ext cx="4239339" cy="2608421"/>
          </a:xfrm>
          <a:prstGeom prst="roundRect">
            <a:avLst>
              <a:gd name="adj" fmla="val 4207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9591913" y="4538424"/>
            <a:ext cx="4239339" cy="91440"/>
          </a:xfrm>
          <a:prstGeom prst="roundRect">
            <a:avLst>
              <a:gd name="adj" fmla="val 86755"/>
            </a:avLst>
          </a:prstGeom>
          <a:solidFill>
            <a:srgbClr val="FF954F"/>
          </a:solidFill>
          <a:ln/>
        </p:spPr>
      </p:sp>
      <p:sp>
        <p:nvSpPr>
          <p:cNvPr id="22" name="Shape 17"/>
          <p:cNvSpPr/>
          <p:nvPr/>
        </p:nvSpPr>
        <p:spPr>
          <a:xfrm>
            <a:off x="11428274" y="4278035"/>
            <a:ext cx="566618" cy="566618"/>
          </a:xfrm>
          <a:prstGeom prst="roundRect">
            <a:avLst>
              <a:gd name="adj" fmla="val 161379"/>
            </a:avLst>
          </a:prstGeom>
          <a:solidFill>
            <a:srgbClr val="FF954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8295" y="4447937"/>
            <a:ext cx="226576" cy="2265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03606" y="5033367"/>
            <a:ext cx="3617238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Punto de Recuperación (RPO)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9803606" y="5480566"/>
            <a:ext cx="3815953" cy="134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Garantizamos que, ante cualquier incidente, la cantidad máxima de datos que podríamos perder corresponde a las últimas </a:t>
            </a:r>
            <a:pPr algn="l"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horas</a:t>
            </a:r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Los respaldos se realizan continuamente para cumplir con este objetivo.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094" y="794385"/>
            <a:ext cx="2111097" cy="345281"/>
          </a:xfrm>
          <a:prstGeom prst="roundRect">
            <a:avLst>
              <a:gd name="adj" fmla="val 20856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681" y="881301"/>
            <a:ext cx="171450" cy="171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5856" y="858679"/>
            <a:ext cx="159674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0094" y="1220629"/>
            <a:ext cx="11655385" cy="110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00"/>
              </a:lnSpc>
              <a:buNone/>
            </a:pPr>
            <a:r>
              <a:rPr lang="en-US" sz="6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Recomendaciones Estratégicas</a:t>
            </a:r>
            <a:endParaRPr lang="en-US" sz="6650" dirty="0"/>
          </a:p>
        </p:txBody>
      </p:sp>
      <p:sp>
        <p:nvSpPr>
          <p:cNvPr id="6" name="Text 3"/>
          <p:cNvSpPr/>
          <p:nvPr/>
        </p:nvSpPr>
        <p:spPr>
          <a:xfrm>
            <a:off x="750094" y="2629733"/>
            <a:ext cx="12035195" cy="640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Fortaleciendo la Postura de Seguridad Continuamente</a:t>
            </a:r>
            <a:endParaRPr lang="en-US" sz="3850" dirty="0"/>
          </a:p>
        </p:txBody>
      </p:sp>
      <p:sp>
        <p:nvSpPr>
          <p:cNvPr id="7" name="Text 4"/>
          <p:cNvSpPr/>
          <p:nvPr/>
        </p:nvSpPr>
        <p:spPr>
          <a:xfrm>
            <a:off x="750094" y="3574256"/>
            <a:ext cx="13130213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garantizar una seguridad robusta y adaptativa, proponemos un plan de acción proactivo centrado en la revisión constante, la vigilancia activa y el fomento de una cultura de seguridad integral.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94" y="4375904"/>
            <a:ext cx="214313" cy="2143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0094" y="4688324"/>
            <a:ext cx="4241721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6"/>
          <p:cNvSpPr/>
          <p:nvPr/>
        </p:nvSpPr>
        <p:spPr>
          <a:xfrm>
            <a:off x="750094" y="4856440"/>
            <a:ext cx="3151346" cy="400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Auditorías Trimestrales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50094" y="5378410"/>
            <a:ext cx="4241721" cy="189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Realizar revisiones periódicas de puertos y permisos para identificar y corregir posibles vulnerabilidades antes de que sean explotadas. Esto asegura que solo los servicios necesarios estén expuestos y que los accesos estén correctamente limitados.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221" y="4375904"/>
            <a:ext cx="214313" cy="2143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94221" y="4688324"/>
            <a:ext cx="4241840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9"/>
          <p:cNvSpPr/>
          <p:nvPr/>
        </p:nvSpPr>
        <p:spPr>
          <a:xfrm>
            <a:off x="5194221" y="4856440"/>
            <a:ext cx="3094196" cy="400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Monitorización Activa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5194221" y="5378410"/>
            <a:ext cx="4241840" cy="189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Implementar sistemas de alerta temprana que notifiquen sobre intentos de acceso fallidos o patrones de comportamiento anómalos. La vigilancia constante permite una respuesta rápida ante cualquier indicio de actividad maliciosa.</a:t>
            </a:r>
            <a:endParaRPr lang="en-US" sz="1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8467" y="4375904"/>
            <a:ext cx="214313" cy="21431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38467" y="4688324"/>
            <a:ext cx="4241840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2"/>
          <p:cNvSpPr/>
          <p:nvPr/>
        </p:nvSpPr>
        <p:spPr>
          <a:xfrm>
            <a:off x="9638467" y="4856440"/>
            <a:ext cx="3080861" cy="400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Cultura de Seguridad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9638467" y="5378410"/>
            <a:ext cx="4241840" cy="189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Capacitar continuamente a todo el personal en las mejores prácticas de seguridad, con énfasis en la creación y gestión de contraseñas robustas. Una fuerza laboral informada es nuestra primera línea de defensa contra las amenazas cibernéticas.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98119" y="1014651"/>
            <a:ext cx="2029778" cy="221694"/>
          </a:xfrm>
          <a:prstGeom prst="roundRect">
            <a:avLst>
              <a:gd name="adj" fmla="val 22919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88845" y="1065014"/>
            <a:ext cx="120968" cy="120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0296" y="1060013"/>
            <a:ext cx="1666875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HARDENING ESTRATÉGICO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098119" y="1276588"/>
            <a:ext cx="6023372" cy="45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Gobierno de Accesos e Infraestructura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989296" y="1879878"/>
            <a:ext cx="5250180" cy="4753094"/>
          </a:xfrm>
          <a:prstGeom prst="roundRect">
            <a:avLst>
              <a:gd name="adj" fmla="val 2291"/>
            </a:avLst>
          </a:prstGeom>
          <a:solidFill>
            <a:srgbClr val="D9E2D3">
              <a:alpha val="9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140506" y="1993225"/>
            <a:ext cx="2460903" cy="236934"/>
          </a:xfrm>
          <a:prstGeom prst="roundRect">
            <a:avLst>
              <a:gd name="adj" fmla="val 21445"/>
            </a:avLst>
          </a:prstGeom>
          <a:noFill/>
          <a:ln w="7620">
            <a:solidFill>
              <a:srgbClr val="FF95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8851" y="2051209"/>
            <a:ext cx="120968" cy="1209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20303" y="2046208"/>
            <a:ext cx="208276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GOBIERNO DE ACCESOS Y DATOS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140506" y="2270403"/>
            <a:ext cx="217372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🔒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El Riesgo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2140506" y="2653665"/>
            <a:ext cx="4947761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Detectamos una configuración de “Acceso Total Universal” (Permisos 777). Cualquier usuario o proceso podía borrar o modificar la plataforma, facilitando la instalación de virus.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506" y="3258145"/>
            <a:ext cx="4358640" cy="403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0506" y="3775353"/>
            <a:ext cx="217372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2140506" y="4158615"/>
            <a:ext cx="4947761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Implementamos una estructura de privilegios escalonada. Restringimos el acceso a los archivos de configuración críticos y sellamos las carpetas de contenido.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140506" y="4750475"/>
            <a:ext cx="217372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398306" y="1879878"/>
            <a:ext cx="5250180" cy="4753094"/>
          </a:xfrm>
          <a:prstGeom prst="roundRect">
            <a:avLst>
              <a:gd name="adj" fmla="val 2291"/>
            </a:avLst>
          </a:prstGeom>
          <a:solidFill>
            <a:srgbClr val="C6D9BF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7549515" y="1993225"/>
            <a:ext cx="3752493" cy="236934"/>
          </a:xfrm>
          <a:prstGeom prst="roundRect">
            <a:avLst>
              <a:gd name="adj" fmla="val 21445"/>
            </a:avLst>
          </a:prstGeom>
          <a:noFill/>
          <a:ln w="7620">
            <a:solidFill>
              <a:srgbClr val="FF954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7861" y="2051209"/>
            <a:ext cx="120968" cy="1209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29312" y="2046208"/>
            <a:ext cx="337435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PRIVACIDAD Y OCULTAMIENTO DE INFRAESTRUCTURA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549515" y="2270403"/>
            <a:ext cx="217372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🛡️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El Riesgo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549515" y="2653665"/>
            <a:ext cx="4947761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servidor exponía públicamente el listado de nuestros archivos internos. Era un mapa gratuito para que cualquier atacante estudiara nuestras debilidades.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9515" y="3258145"/>
            <a:ext cx="2880241" cy="26237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9515" y="5995273"/>
            <a:ext cx="2173724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549515" y="6378535"/>
            <a:ext cx="4947761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Activamos el protocolo de ocultamiento de directorios.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2098119" y="6746319"/>
            <a:ext cx="10434042" cy="468511"/>
          </a:xfrm>
          <a:prstGeom prst="roundRect">
            <a:avLst>
              <a:gd name="adj" fmla="val 13556"/>
            </a:avLst>
          </a:prstGeom>
          <a:solidFill>
            <a:srgbClr val="FFD1B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9329" y="6935272"/>
            <a:ext cx="188952" cy="15120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89490" y="6884789"/>
            <a:ext cx="9791462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Estrategia de Hardening: Transformando configuraciones vulnerables en activos protegidos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2026-03-23T19:58:31Z</dcterms:created>
  <dcterms:modified xsi:type="dcterms:W3CDTF">2026-03-23T19:58:31Z</dcterms:modified>
</cp:coreProperties>
</file>